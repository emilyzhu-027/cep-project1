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sec) So, this month a car got shown off that can literally lift itself off the ground. Thrusters, a suction system, all of it. And it works. (beat) But you still can’t drive it home. Don’t name the 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Why not? It’s been delayed for years, and nobody’s sure it’ll ever be approved for the road. Regulators don’t care how cool the demo looks. They want proof it’s safe, and most of that proof comes down to software. Requirements keep changing, so every requirement becomes a ticket in something like Jira or GitHub Issues, and every commit links back to its ticket. Handoff: “How do you actually prove the code is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sec) Honestly, the first thing you’d think is: just drive it. A lot. RAND did the math: hundreds of millions of miles, decades of driving, because the dangerous stuff barely ever happens. So what Waymo does instead is basically CI. Capture dangerous situations once, rebuild them in simulation, and run every new build against all of them automatically. Same idea as a GitHub Actions pipeline, just with car crashes as the test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 For the really important code, even unit tests aren’t enough. ISO 26262 ranks every part of a car from A to D by how bad a failure would be. Brakes and steering are C and D, so on top of testing you need formal verification: proving mathematically that the code does what it should. Thrusters on a moving car? Not an A. Handoff: “But now you want to change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And changing it is where things get messy, because every update is regulated. A UN rule called R156 says car makers have to know exactly which version of the software is on every car, and whether a new release changes anything that got approved. That’s version control and release tagging, just with the law watching. NASA asks for the same basics on all its software: version control, testing, and tracking risk. Updates are also a big target for hackers. NHTSA says every update should be signed, and you need a rollback plan for when one goes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sec) So, remember that car from the beginning? It’s the new Tesla Roadster. Getting it to fly was the easy part. Proving the software is safe, and keeping it safe, is the hard part. That’s what’s standing between it and your driveway. Stop. No “thank you”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presented; leave up during Q&amp;A if there 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2EFE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49660"/>
            <a:ext cx="9525000" cy="2286000"/>
          </a:xfrm>
          <a:prstGeom prst="rect">
            <a:avLst/>
          </a:prstGeom>
          <a:noFill/>
          <a:ln/>
        </p:spPr>
        <p:txBody>
          <a:bodyPr wrap="square" lIns="0" tIns="0" rIns="0" bIns="0" rtlCol="0" anchor="t"/>
          <a:lstStyle>
            <a:lvl1pPr algn="l" indent="0" marL="0">
              <a:lnSpc>
                <a:spcPct val="115000"/>
              </a:lnSpc>
              <a:buNone/>
              <a:defRPr lang="en-US" sz="6000" dirty="0">
                <a:solidFill>
                  <a:srgbClr val="141519"/>
                </a:solidFill>
                <a:latin typeface="Arial" pitchFamily="34" charset="0"/>
                <a:ea typeface="Arial" pitchFamily="34" charset="-122"/>
                <a:cs typeface="Arial" pitchFamily="34" charset="-120"/>
              </a:defRPr>
            </a:lvl1pPr>
          </a:lstStyle>
          <a:p>
            <a:pPr algn="l" indent="0" marL="0">
              <a:lnSpc>
                <a:spcPct val="115000"/>
              </a:lnSpc>
              <a:buNone/>
            </a:pPr>
            <a:endParaRPr lang="en-US" sz="6000" dirty="0"/>
          </a:p>
        </p:txBody>
      </p:sp>
      <p:sp>
        <p:nvSpPr>
          <p:cNvPr id="3" name="Text Placeholder 2"/>
          <p:cNvSpPr/>
          <p:nvPr>
            <p:ph idx="101" type="body"/>
          </p:nvPr>
        </p:nvSpPr>
        <p:spPr>
          <a:xfrm>
            <a:off x="812800" y="3840460"/>
            <a:ext cx="10566400" cy="2204740"/>
          </a:xfrm>
          <a:prstGeom prst="rect">
            <a:avLst/>
          </a:prstGeom>
          <a:noFill/>
          <a:ln/>
        </p:spPr>
        <p:txBody>
          <a:bodyPr wrap="square" lIns="0" tIns="0" rIns="0" bIns="0" rtlCol="0" anchor="t"/>
          <a:lstStyle>
            <a:lvl1pPr algn="l" indent="0" marL="0">
              <a:lnSpc>
                <a:spcPct val="140000"/>
              </a:lnSpc>
              <a:buNone/>
              <a:defRPr lang="en-US" sz="1600" dirty="0">
                <a:solidFill>
                  <a:srgbClr val="141519"/>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EFE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49660"/>
            <a:ext cx="9525000" cy="2286000"/>
          </a:xfrm>
          <a:prstGeom prst="rect">
            <a:avLst/>
          </a:prstGeom>
          <a:noFill/>
          <a:ln/>
        </p:spPr>
        <p:txBody>
          <a:bodyPr wrap="square" lIns="0" tIns="0" rIns="0" bIns="0" rtlCol="0" anchor="t"/>
          <a:lstStyle>
            <a:lvl1pPr algn="l" indent="0" marL="0">
              <a:lnSpc>
                <a:spcPct val="115000"/>
              </a:lnSpc>
              <a:buNone/>
              <a:defRPr lang="en-US" sz="6000" dirty="0">
                <a:solidFill>
                  <a:srgbClr val="141519"/>
                </a:solidFill>
                <a:latin typeface="Arial" pitchFamily="34" charset="0"/>
                <a:ea typeface="Arial" pitchFamily="34" charset="-122"/>
                <a:cs typeface="Arial" pitchFamily="34" charset="-120"/>
              </a:defRPr>
            </a:lvl1pPr>
          </a:lstStyle>
          <a:p>
            <a:pPr algn="l" indent="0" marL="0">
              <a:lnSpc>
                <a:spcPct val="115000"/>
              </a:lnSpc>
              <a:buNone/>
            </a:pPr>
            <a:endParaRPr lang="en-US" sz="6000" dirty="0"/>
          </a:p>
        </p:txBody>
      </p:sp>
      <p:sp>
        <p:nvSpPr>
          <p:cNvPr id="3" name="Text Placeholder 2"/>
          <p:cNvSpPr/>
          <p:nvPr>
            <p:ph idx="101" type="body"/>
          </p:nvPr>
        </p:nvSpPr>
        <p:spPr>
          <a:xfrm>
            <a:off x="812800" y="3840460"/>
            <a:ext cx="10566400" cy="2204740"/>
          </a:xfrm>
          <a:prstGeom prst="rect">
            <a:avLst/>
          </a:prstGeom>
          <a:noFill/>
          <a:ln/>
        </p:spPr>
        <p:txBody>
          <a:bodyPr wrap="square" lIns="0" tIns="0" rIns="0" bIns="0" rtlCol="0" anchor="t"/>
          <a:lstStyle>
            <a:lvl1pPr algn="l" indent="0" marL="0">
              <a:lnSpc>
                <a:spcPct val="140000"/>
              </a:lnSpc>
              <a:buNone/>
              <a:defRPr lang="en-US" sz="1600" dirty="0">
                <a:solidFill>
                  <a:srgbClr val="141519"/>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519"/>
        </a:solidFill>
      </p:bgPr>
    </p:bg>
    <p:spTree>
      <p:nvGrpSpPr>
        <p:cNvPr id="1" name=""/>
        <p:cNvGrpSpPr/>
        <p:nvPr/>
      </p:nvGrpSpPr>
      <p:grpSpPr>
        <a:xfrm>
          <a:off x="0" y="0"/>
          <a:ext cx="0" cy="0"/>
          <a:chOff x="0" y="0"/>
          <a:chExt cx="0" cy="0"/>
        </a:xfrm>
      </p:grpSpPr>
      <p:sp>
        <p:nvSpPr>
          <p:cNvPr id="2" name="Text 0"/>
          <p:cNvSpPr/>
          <p:nvPr/>
        </p:nvSpPr>
        <p:spPr>
          <a:xfrm>
            <a:off x="812800" y="2019399"/>
            <a:ext cx="10883392" cy="309860"/>
          </a:xfrm>
          <a:prstGeom prst="rect">
            <a:avLst/>
          </a:prstGeom>
          <a:noFill/>
          <a:ln/>
        </p:spPr>
        <p:txBody>
          <a:bodyPr wrap="square" lIns="0" tIns="0" rIns="0" bIns="0" rtlCol="0" anchor="t">
            <a:normAutofit/>
          </a:bodyPr>
          <a:lstStyle/>
          <a:p>
            <a:pPr algn="l" indent="0" marL="0">
              <a:lnSpc>
                <a:spcPts val="2240"/>
              </a:lnSpc>
              <a:buNone/>
            </a:pPr>
            <a:r>
              <a:rPr lang="en-US" sz="1600" spc="200" kern="0" dirty="0">
                <a:solidFill>
                  <a:srgbClr val="E8622C"/>
                </a:solidFill>
                <a:latin typeface="Arial" pitchFamily="34" charset="0"/>
                <a:ea typeface="Arial" pitchFamily="34" charset="-122"/>
                <a:cs typeface="Arial" pitchFamily="34" charset="-120"/>
              </a:rPr>
              <a:t>SPEAKER 1</a:t>
            </a:r>
            <a:endParaRPr lang="en-US" sz="1600" dirty="0"/>
          </a:p>
        </p:txBody>
      </p:sp>
      <p:sp>
        <p:nvSpPr>
          <p:cNvPr id="3" name="Text 1"/>
          <p:cNvSpPr/>
          <p:nvPr>
            <p:ph type="title"/>
          </p:nvPr>
        </p:nvSpPr>
        <p:spPr>
          <a:xfrm>
            <a:off x="812800" y="2557859"/>
            <a:ext cx="9810750" cy="2692400"/>
          </a:xfrm>
          <a:prstGeom prst="rect">
            <a:avLst/>
          </a:prstGeom>
          <a:noFill/>
          <a:ln/>
        </p:spPr>
        <p:txBody>
          <a:bodyPr wrap="square" lIns="0" tIns="0" rIns="0" bIns="0" rtlCol="0" anchor="t">
            <a:normAutofit/>
          </a:bodyPr>
          <a:lstStyle/>
          <a:p>
            <a:pPr algn="l" indent="0" marL="0">
              <a:lnSpc>
                <a:spcPts val="7000"/>
              </a:lnSpc>
              <a:buNone/>
            </a:pPr>
            <a:r>
              <a:rPr lang="en-US" sz="7000" b="1" i="0" dirty="0">
                <a:solidFill>
                  <a:srgbClr val="F2EFE8"/>
                </a:solidFill>
                <a:latin typeface="Arial" pitchFamily="34" charset="0"/>
                <a:ea typeface="Arial" pitchFamily="34" charset="-122"/>
                <a:cs typeface="Arial" pitchFamily="34" charset="-120"/>
              </a:rPr>
              <a:t>A CAR JUST LIFTED ITSELF OFF THE GROUND.</a:t>
            </a:r>
            <a:endParaRPr lang="en-US" sz="7000" dirty="0"/>
          </a:p>
        </p:txBody>
      </p:sp>
      <p:sp>
        <p:nvSpPr>
          <p:cNvPr id="4" name="Text 2"/>
          <p:cNvSpPr/>
          <p:nvPr/>
        </p:nvSpPr>
        <p:spPr>
          <a:xfrm>
            <a:off x="812800" y="5478859"/>
            <a:ext cx="10883392"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A9A59C"/>
                </a:solidFill>
                <a:latin typeface="Arial" pitchFamily="34" charset="0"/>
                <a:ea typeface="Arial" pitchFamily="34" charset="-122"/>
                <a:cs typeface="Arial" pitchFamily="34" charset="-120"/>
              </a:rPr>
              <a:t>It works. You still can’t drive it home.</a:t>
            </a:r>
            <a:endParaRPr lang="en-US" sz="22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63"/>
                </a:solidFill>
                <a:latin typeface="Arial" pitchFamily="34" charset="0"/>
                <a:ea typeface="Arial" pitchFamily="34" charset="-122"/>
                <a:cs typeface="Arial" pitchFamily="34" charset="-120"/>
              </a:rPr>
              <a:t>Why the flying car isn’t street legal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EFE8"/>
        </a:solidFill>
      </p:bgPr>
    </p:bg>
    <p:spTree>
      <p:nvGrpSpPr>
        <p:cNvPr id="1" name=""/>
        <p:cNvGrpSpPr/>
        <p:nvPr/>
      </p:nvGrpSpPr>
      <p:grpSpPr>
        <a:xfrm>
          <a:off x="0" y="0"/>
          <a:ext cx="0" cy="0"/>
          <a:chOff x="0" y="0"/>
          <a:chExt cx="0" cy="0"/>
        </a:xfrm>
      </p:grpSpPr>
      <p:sp>
        <p:nvSpPr>
          <p:cNvPr id="2" name="Text 0"/>
          <p:cNvSpPr/>
          <p:nvPr/>
        </p:nvSpPr>
        <p:spPr>
          <a:xfrm>
            <a:off x="812800" y="8128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spc="200" kern="0" dirty="0">
                <a:solidFill>
                  <a:srgbClr val="B8461A"/>
                </a:solidFill>
                <a:latin typeface="Arial" pitchFamily="34" charset="0"/>
                <a:ea typeface="Arial" pitchFamily="34" charset="-122"/>
                <a:cs typeface="Arial" pitchFamily="34" charset="-120"/>
              </a:rPr>
              <a:t>SPEAKER 1</a:t>
            </a:r>
            <a:endParaRPr lang="en-US" sz="1600" dirty="0"/>
          </a:p>
        </p:txBody>
      </p:sp>
      <p:sp>
        <p:nvSpPr>
          <p:cNvPr id="3" name="Text 1"/>
          <p:cNvSpPr/>
          <p:nvPr>
            <p:ph type="title"/>
          </p:nvPr>
        </p:nvSpPr>
        <p:spPr>
          <a:xfrm>
            <a:off x="812800" y="1249660"/>
            <a:ext cx="9156700" cy="2311400"/>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141519"/>
                </a:solidFill>
                <a:latin typeface="Arial" pitchFamily="34" charset="0"/>
                <a:ea typeface="Arial" pitchFamily="34" charset="-122"/>
                <a:cs typeface="Arial" pitchFamily="34" charset="-120"/>
              </a:rPr>
              <a:t>REGULATORS APPROVE EVIDENCE, NOT DEMOS.</a:t>
            </a:r>
            <a:endParaRPr lang="en-US" sz="6000" dirty="0"/>
          </a:p>
        </p:txBody>
      </p:sp>
      <p:sp>
        <p:nvSpPr>
          <p:cNvPr id="4" name="Shape 2"/>
          <p:cNvSpPr/>
          <p:nvPr/>
        </p:nvSpPr>
        <p:spPr>
          <a:xfrm>
            <a:off x="812800" y="4645720"/>
            <a:ext cx="5080000" cy="0"/>
          </a:xfrm>
          <a:prstGeom prst="line">
            <a:avLst/>
          </a:prstGeom>
          <a:noFill/>
          <a:ln w="25400">
            <a:solidFill>
              <a:srgbClr val="141519"/>
            </a:solidFill>
            <a:prstDash val="solid"/>
          </a:ln>
        </p:spPr>
      </p:sp>
      <p:sp>
        <p:nvSpPr>
          <p:cNvPr id="5" name="Text 3"/>
          <p:cNvSpPr/>
          <p:nvPr/>
        </p:nvSpPr>
        <p:spPr>
          <a:xfrm>
            <a:off x="812800" y="4861620"/>
            <a:ext cx="523240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519"/>
                </a:solidFill>
                <a:latin typeface="Arial" pitchFamily="34" charset="0"/>
                <a:ea typeface="Arial" pitchFamily="34" charset="-122"/>
                <a:cs typeface="Arial" pitchFamily="34" charset="-120"/>
              </a:rPr>
              <a:t>Years of delays</a:t>
            </a:r>
            <a:endParaRPr lang="en-US" sz="2200" dirty="0"/>
          </a:p>
        </p:txBody>
      </p:sp>
      <p:sp>
        <p:nvSpPr>
          <p:cNvPr id="6" name="Text 4"/>
          <p:cNvSpPr/>
          <p:nvPr/>
        </p:nvSpPr>
        <p:spPr>
          <a:xfrm>
            <a:off x="812800" y="5273080"/>
            <a:ext cx="523240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740"/>
                </a:solidFill>
                <a:latin typeface="Arial" pitchFamily="34" charset="0"/>
                <a:ea typeface="Arial" pitchFamily="34" charset="-122"/>
                <a:cs typeface="Arial" pitchFamily="34" charset="-120"/>
              </a:rPr>
              <a:t>Road approval still uncertain on safety and regulatory grounds.</a:t>
            </a:r>
            <a:endParaRPr lang="en-US" sz="1600" dirty="0"/>
          </a:p>
        </p:txBody>
      </p:sp>
      <p:sp>
        <p:nvSpPr>
          <p:cNvPr id="7" name="Shape 5"/>
          <p:cNvSpPr/>
          <p:nvPr/>
        </p:nvSpPr>
        <p:spPr>
          <a:xfrm>
            <a:off x="6299200" y="4645720"/>
            <a:ext cx="5080000" cy="0"/>
          </a:xfrm>
          <a:prstGeom prst="line">
            <a:avLst/>
          </a:prstGeom>
          <a:noFill/>
          <a:ln w="25400">
            <a:solidFill>
              <a:srgbClr val="141519"/>
            </a:solidFill>
            <a:prstDash val="solid"/>
          </a:ln>
        </p:spPr>
      </p:sp>
      <p:sp>
        <p:nvSpPr>
          <p:cNvPr id="8" name="Text 6"/>
          <p:cNvSpPr/>
          <p:nvPr/>
        </p:nvSpPr>
        <p:spPr>
          <a:xfrm>
            <a:off x="6299200" y="4861620"/>
            <a:ext cx="523240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519"/>
                </a:solidFill>
                <a:latin typeface="Arial" pitchFamily="34" charset="0"/>
                <a:ea typeface="Arial" pitchFamily="34" charset="-122"/>
                <a:cs typeface="Arial" pitchFamily="34" charset="-120"/>
              </a:rPr>
              <a:t>Every requirement is a ticket</a:t>
            </a:r>
            <a:endParaRPr lang="en-US" sz="2200" dirty="0"/>
          </a:p>
        </p:txBody>
      </p:sp>
      <p:sp>
        <p:nvSpPr>
          <p:cNvPr id="9" name="Text 7"/>
          <p:cNvSpPr/>
          <p:nvPr/>
        </p:nvSpPr>
        <p:spPr>
          <a:xfrm>
            <a:off x="6299200" y="5273080"/>
            <a:ext cx="523240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740"/>
                </a:solidFill>
                <a:latin typeface="Arial" pitchFamily="34" charset="0"/>
                <a:ea typeface="Arial" pitchFamily="34" charset="-122"/>
                <a:cs typeface="Arial" pitchFamily="34" charset="-120"/>
              </a:rPr>
              <a:t>Tracked in Jira or GitHub Issues. Every commit links back to one.</a:t>
            </a:r>
            <a:endParaRPr lang="en-US" sz="16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63"/>
                </a:solidFill>
                <a:latin typeface="Arial" pitchFamily="34" charset="0"/>
                <a:ea typeface="Arial" pitchFamily="34" charset="-122"/>
                <a:cs typeface="Arial" pitchFamily="34" charset="-120"/>
              </a:rPr>
              <a:t>AP News, Oct 2026 · Ågren et al., 2019</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519"/>
        </a:solidFill>
      </p:bgPr>
    </p:bg>
    <p:spTree>
      <p:nvGrpSpPr>
        <p:cNvPr id="1" name=""/>
        <p:cNvGrpSpPr/>
        <p:nvPr/>
      </p:nvGrpSpPr>
      <p:grpSpPr>
        <a:xfrm>
          <a:off x="0" y="0"/>
          <a:ext cx="0" cy="0"/>
          <a:chOff x="0" y="0"/>
          <a:chExt cx="0" cy="0"/>
        </a:xfrm>
      </p:grpSpPr>
      <p:sp>
        <p:nvSpPr>
          <p:cNvPr id="2" name="Text 0"/>
          <p:cNvSpPr/>
          <p:nvPr/>
        </p:nvSpPr>
        <p:spPr>
          <a:xfrm>
            <a:off x="812800" y="8128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spc="200" kern="0" dirty="0">
                <a:solidFill>
                  <a:srgbClr val="E8622C"/>
                </a:solidFill>
                <a:latin typeface="Arial" pitchFamily="34" charset="0"/>
                <a:ea typeface="Arial" pitchFamily="34" charset="-122"/>
                <a:cs typeface="Arial" pitchFamily="34" charset="-120"/>
              </a:rPr>
              <a:t>SPEAKER 2</a:t>
            </a:r>
            <a:endParaRPr lang="en-US" sz="1600" dirty="0"/>
          </a:p>
        </p:txBody>
      </p:sp>
      <p:sp>
        <p:nvSpPr>
          <p:cNvPr id="3" name="Text 1"/>
          <p:cNvSpPr/>
          <p:nvPr>
            <p:ph type="title"/>
          </p:nvPr>
        </p:nvSpPr>
        <p:spPr>
          <a:xfrm>
            <a:off x="812800" y="2221309"/>
            <a:ext cx="10883392" cy="1143000"/>
          </a:xfrm>
          <a:prstGeom prst="rect">
            <a:avLst/>
          </a:prstGeom>
          <a:noFill/>
          <a:ln/>
        </p:spPr>
        <p:txBody>
          <a:bodyPr wrap="none" lIns="0" tIns="0" rIns="0" bIns="0" rtlCol="0" anchor="t">
            <a:normAutofit/>
          </a:bodyPr>
          <a:lstStyle/>
          <a:p>
            <a:pPr algn="l" indent="0" marL="0">
              <a:lnSpc>
                <a:spcPts val="8800"/>
              </a:lnSpc>
              <a:buNone/>
            </a:pPr>
            <a:r>
              <a:rPr lang="en-US" sz="8800" b="1" i="0" dirty="0">
                <a:solidFill>
                  <a:srgbClr val="F2EFE8"/>
                </a:solidFill>
                <a:latin typeface="Arial" pitchFamily="34" charset="0"/>
                <a:ea typeface="Arial" pitchFamily="34" charset="-122"/>
                <a:cs typeface="Arial" pitchFamily="34" charset="-120"/>
              </a:rPr>
              <a:t>100,000,000+ MILES</a:t>
            </a:r>
            <a:endParaRPr lang="en-US" sz="8800" dirty="0"/>
          </a:p>
        </p:txBody>
      </p:sp>
      <p:sp>
        <p:nvSpPr>
          <p:cNvPr id="4" name="Text 2"/>
          <p:cNvSpPr/>
          <p:nvPr/>
        </p:nvSpPr>
        <p:spPr>
          <a:xfrm>
            <a:off x="812800" y="3491309"/>
            <a:ext cx="9156700" cy="75168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A9A59C"/>
                </a:solidFill>
                <a:latin typeface="Arial" pitchFamily="34" charset="0"/>
                <a:ea typeface="Arial" pitchFamily="34" charset="-122"/>
                <a:cs typeface="Arial" pitchFamily="34" charset="-120"/>
              </a:rPr>
              <a:t>of driving to prove a self-driving fleet is safer than humans. Decades of road time.</a:t>
            </a:r>
            <a:endParaRPr lang="en-US" sz="2200" dirty="0"/>
          </a:p>
        </p:txBody>
      </p:sp>
      <p:sp>
        <p:nvSpPr>
          <p:cNvPr id="5" name="Shape 3"/>
          <p:cNvSpPr/>
          <p:nvPr/>
        </p:nvSpPr>
        <p:spPr>
          <a:xfrm>
            <a:off x="812800" y="5347990"/>
            <a:ext cx="10566400" cy="0"/>
          </a:xfrm>
          <a:prstGeom prst="line">
            <a:avLst/>
          </a:prstGeom>
          <a:noFill/>
          <a:ln w="12700">
            <a:solidFill>
              <a:srgbClr val="3A3B40"/>
            </a:solidFill>
            <a:prstDash val="solid"/>
          </a:ln>
        </p:spPr>
      </p:sp>
      <p:sp>
        <p:nvSpPr>
          <p:cNvPr id="6" name="Text 4"/>
          <p:cNvSpPr/>
          <p:nvPr/>
        </p:nvSpPr>
        <p:spPr>
          <a:xfrm>
            <a:off x="812800" y="5557540"/>
            <a:ext cx="1145977" cy="309860"/>
          </a:xfrm>
          <a:prstGeom prst="rect">
            <a:avLst/>
          </a:prstGeom>
          <a:noFill/>
          <a:ln/>
        </p:spPr>
        <p:txBody>
          <a:bodyPr wrap="none" lIns="0" tIns="0" rIns="0" bIns="0" rtlCol="0" anchor="t">
            <a:normAutofit/>
          </a:bodyPr>
          <a:lstStyle/>
          <a:p>
            <a:pPr algn="l" indent="0" marL="0">
              <a:lnSpc>
                <a:spcPts val="2240"/>
              </a:lnSpc>
              <a:buNone/>
            </a:pPr>
            <a:r>
              <a:rPr lang="en-US" sz="1600" b="1" dirty="0">
                <a:solidFill>
                  <a:srgbClr val="E8622C"/>
                </a:solidFill>
                <a:latin typeface="Arial" pitchFamily="34" charset="0"/>
                <a:ea typeface="Arial" pitchFamily="34" charset="-122"/>
                <a:cs typeface="Arial" pitchFamily="34" charset="-120"/>
              </a:rPr>
              <a:t>Instead: CI.</a:t>
            </a:r>
            <a:endParaRPr lang="en-US" sz="1600" dirty="0"/>
          </a:p>
        </p:txBody>
      </p:sp>
      <p:sp>
        <p:nvSpPr>
          <p:cNvPr id="7" name="Text 5"/>
          <p:cNvSpPr/>
          <p:nvPr/>
        </p:nvSpPr>
        <p:spPr>
          <a:xfrm>
            <a:off x="2060377" y="5557540"/>
            <a:ext cx="9318823"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2EFE8"/>
                </a:solidFill>
                <a:latin typeface="Arial" pitchFamily="34" charset="0"/>
                <a:ea typeface="Arial" pitchFamily="34" charset="-122"/>
                <a:cs typeface="Arial" pitchFamily="34" charset="-120"/>
              </a:rPr>
              <a:t>Every new build runs thousands of crash scenarios in simulation, automatically, in hours.</a:t>
            </a:r>
            <a:endParaRPr lang="en-US" sz="16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63"/>
                </a:solidFill>
                <a:latin typeface="Arial" pitchFamily="34" charset="0"/>
                <a:ea typeface="Arial" pitchFamily="34" charset="-122"/>
                <a:cs typeface="Arial" pitchFamily="34" charset="-120"/>
              </a:rPr>
              <a:t>Kalra &amp; Paddock, RAND, 2016 · Kusano et al., Waymo, 2022 (self-reported)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EFE8"/>
        </a:solidFill>
      </p:bgPr>
    </p:bg>
    <p:spTree>
      <p:nvGrpSpPr>
        <p:cNvPr id="1" name=""/>
        <p:cNvGrpSpPr/>
        <p:nvPr/>
      </p:nvGrpSpPr>
      <p:grpSpPr>
        <a:xfrm>
          <a:off x="0" y="0"/>
          <a:ext cx="0" cy="0"/>
          <a:chOff x="0" y="0"/>
          <a:chExt cx="0" cy="0"/>
        </a:xfrm>
      </p:grpSpPr>
      <p:sp>
        <p:nvSpPr>
          <p:cNvPr id="2" name="Text 0"/>
          <p:cNvSpPr/>
          <p:nvPr/>
        </p:nvSpPr>
        <p:spPr>
          <a:xfrm>
            <a:off x="812800" y="8128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spc="200" kern="0" dirty="0">
                <a:solidFill>
                  <a:srgbClr val="B8461A"/>
                </a:solidFill>
                <a:latin typeface="Arial" pitchFamily="34" charset="0"/>
                <a:ea typeface="Arial" pitchFamily="34" charset="-122"/>
                <a:cs typeface="Arial" pitchFamily="34" charset="-120"/>
              </a:rPr>
              <a:t>SPEAKER 2</a:t>
            </a:r>
            <a:endParaRPr lang="en-US" sz="1600" dirty="0"/>
          </a:p>
        </p:txBody>
      </p:sp>
      <p:sp>
        <p:nvSpPr>
          <p:cNvPr id="3" name="Text 1"/>
          <p:cNvSpPr/>
          <p:nvPr>
            <p:ph type="title"/>
          </p:nvPr>
        </p:nvSpPr>
        <p:spPr>
          <a:xfrm>
            <a:off x="812800" y="1249660"/>
            <a:ext cx="9810750" cy="2311400"/>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141519"/>
                </a:solidFill>
                <a:latin typeface="Arial" pitchFamily="34" charset="0"/>
                <a:ea typeface="Arial" pitchFamily="34" charset="-122"/>
                <a:cs typeface="Arial" pitchFamily="34" charset="-120"/>
              </a:rPr>
              <a:t>SOME CODE HAS TO BE PROVEN, NOT JUST TESTED.</a:t>
            </a:r>
            <a:endParaRPr lang="en-US" sz="6000" dirty="0"/>
          </a:p>
        </p:txBody>
      </p:sp>
      <p:sp>
        <p:nvSpPr>
          <p:cNvPr id="4" name="Text 2"/>
          <p:cNvSpPr/>
          <p:nvPr/>
        </p:nvSpPr>
        <p:spPr>
          <a:xfrm>
            <a:off x="812800" y="4023618"/>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E6A63"/>
                </a:solidFill>
                <a:latin typeface="Arial" pitchFamily="34" charset="0"/>
                <a:ea typeface="Arial" pitchFamily="34" charset="-122"/>
                <a:cs typeface="Arial" pitchFamily="34" charset="-120"/>
              </a:rPr>
              <a:t>ISO 26262 RISK LEVELS</a:t>
            </a:r>
            <a:endParaRPr lang="en-US" sz="1200" dirty="0"/>
          </a:p>
        </p:txBody>
      </p:sp>
      <p:sp>
        <p:nvSpPr>
          <p:cNvPr id="5" name="Shape 3"/>
          <p:cNvSpPr/>
          <p:nvPr/>
        </p:nvSpPr>
        <p:spPr>
          <a:xfrm>
            <a:off x="812800" y="4338538"/>
            <a:ext cx="2565400" cy="1503462"/>
          </a:xfrm>
          <a:prstGeom prst="rect">
            <a:avLst/>
          </a:prstGeom>
          <a:solidFill>
            <a:srgbClr val="E4E0D6"/>
          </a:solidFill>
          <a:ln/>
        </p:spPr>
      </p:sp>
      <p:sp>
        <p:nvSpPr>
          <p:cNvPr id="6" name="Text 4"/>
          <p:cNvSpPr/>
          <p:nvPr/>
        </p:nvSpPr>
        <p:spPr>
          <a:xfrm>
            <a:off x="1016000" y="4541738"/>
            <a:ext cx="2223770" cy="573980"/>
          </a:xfrm>
          <a:prstGeom prst="rect">
            <a:avLst/>
          </a:prstGeom>
          <a:noFill/>
          <a:ln/>
        </p:spPr>
        <p:txBody>
          <a:bodyPr wrap="square" lIns="0" tIns="0" rIns="0" bIns="0" rtlCol="0" anchor="t">
            <a:normAutofit/>
          </a:bodyPr>
          <a:lstStyle/>
          <a:p>
            <a:pPr algn="l" indent="0" marL="0">
              <a:lnSpc>
                <a:spcPts val="4320"/>
              </a:lnSpc>
              <a:buNone/>
            </a:pPr>
            <a:r>
              <a:rPr lang="en-US" sz="3600" b="1" dirty="0">
                <a:solidFill>
                  <a:srgbClr val="141519"/>
                </a:solidFill>
                <a:latin typeface="Arial" pitchFamily="34" charset="0"/>
                <a:ea typeface="Arial" pitchFamily="34" charset="-122"/>
                <a:cs typeface="Arial" pitchFamily="34" charset="-120"/>
              </a:rPr>
              <a:t>A</a:t>
            </a:r>
            <a:endParaRPr lang="en-US" sz="3600" dirty="0"/>
          </a:p>
        </p:txBody>
      </p:sp>
      <p:sp>
        <p:nvSpPr>
          <p:cNvPr id="7" name="Text 5"/>
          <p:cNvSpPr/>
          <p:nvPr/>
        </p:nvSpPr>
        <p:spPr>
          <a:xfrm>
            <a:off x="1016000" y="5141119"/>
            <a:ext cx="222377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740"/>
                </a:solidFill>
                <a:latin typeface="Arial" pitchFamily="34" charset="0"/>
                <a:ea typeface="Arial" pitchFamily="34" charset="-122"/>
                <a:cs typeface="Arial" pitchFamily="34" charset="-120"/>
              </a:rPr>
              <a:t>Lowest risk</a:t>
            </a:r>
            <a:endParaRPr lang="en-US" sz="1400" dirty="0"/>
          </a:p>
        </p:txBody>
      </p:sp>
      <p:sp>
        <p:nvSpPr>
          <p:cNvPr id="8" name="Shape 6"/>
          <p:cNvSpPr/>
          <p:nvPr/>
        </p:nvSpPr>
        <p:spPr>
          <a:xfrm>
            <a:off x="3479800" y="4338538"/>
            <a:ext cx="2565400" cy="1503462"/>
          </a:xfrm>
          <a:prstGeom prst="rect">
            <a:avLst/>
          </a:prstGeom>
          <a:solidFill>
            <a:srgbClr val="E4E0D6"/>
          </a:solidFill>
          <a:ln/>
        </p:spPr>
      </p:sp>
      <p:sp>
        <p:nvSpPr>
          <p:cNvPr id="9" name="Text 7"/>
          <p:cNvSpPr/>
          <p:nvPr/>
        </p:nvSpPr>
        <p:spPr>
          <a:xfrm>
            <a:off x="3683000" y="4541738"/>
            <a:ext cx="2223770" cy="573980"/>
          </a:xfrm>
          <a:prstGeom prst="rect">
            <a:avLst/>
          </a:prstGeom>
          <a:noFill/>
          <a:ln/>
        </p:spPr>
        <p:txBody>
          <a:bodyPr wrap="square" lIns="0" tIns="0" rIns="0" bIns="0" rtlCol="0" anchor="t">
            <a:normAutofit/>
          </a:bodyPr>
          <a:lstStyle/>
          <a:p>
            <a:pPr algn="l" indent="0" marL="0">
              <a:lnSpc>
                <a:spcPts val="4320"/>
              </a:lnSpc>
              <a:buNone/>
            </a:pPr>
            <a:r>
              <a:rPr lang="en-US" sz="3600" b="1" dirty="0">
                <a:solidFill>
                  <a:srgbClr val="141519"/>
                </a:solidFill>
                <a:latin typeface="Arial" pitchFamily="34" charset="0"/>
                <a:ea typeface="Arial" pitchFamily="34" charset="-122"/>
                <a:cs typeface="Arial" pitchFamily="34" charset="-120"/>
              </a:rPr>
              <a:t>B</a:t>
            </a:r>
            <a:endParaRPr lang="en-US" sz="3600" dirty="0"/>
          </a:p>
        </p:txBody>
      </p:sp>
      <p:sp>
        <p:nvSpPr>
          <p:cNvPr id="10" name="Text 8"/>
          <p:cNvSpPr/>
          <p:nvPr/>
        </p:nvSpPr>
        <p:spPr>
          <a:xfrm>
            <a:off x="3683000" y="5141119"/>
            <a:ext cx="222377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740"/>
                </a:solidFill>
                <a:latin typeface="Arial" pitchFamily="34" charset="0"/>
                <a:ea typeface="Arial" pitchFamily="34" charset="-122"/>
                <a:cs typeface="Arial" pitchFamily="34" charset="-120"/>
              </a:rPr>
              <a:t>Unit + integration tests</a:t>
            </a:r>
            <a:endParaRPr lang="en-US" sz="1400" dirty="0"/>
          </a:p>
        </p:txBody>
      </p:sp>
      <p:sp>
        <p:nvSpPr>
          <p:cNvPr id="11" name="Shape 9"/>
          <p:cNvSpPr/>
          <p:nvPr/>
        </p:nvSpPr>
        <p:spPr>
          <a:xfrm>
            <a:off x="6146800" y="4338538"/>
            <a:ext cx="2565400" cy="1503462"/>
          </a:xfrm>
          <a:prstGeom prst="rect">
            <a:avLst/>
          </a:prstGeom>
          <a:solidFill>
            <a:srgbClr val="141519"/>
          </a:solidFill>
          <a:ln/>
        </p:spPr>
      </p:sp>
      <p:sp>
        <p:nvSpPr>
          <p:cNvPr id="12" name="Text 10"/>
          <p:cNvSpPr/>
          <p:nvPr/>
        </p:nvSpPr>
        <p:spPr>
          <a:xfrm>
            <a:off x="6350000" y="4541738"/>
            <a:ext cx="2223770" cy="573980"/>
          </a:xfrm>
          <a:prstGeom prst="rect">
            <a:avLst/>
          </a:prstGeom>
          <a:noFill/>
          <a:ln/>
        </p:spPr>
        <p:txBody>
          <a:bodyPr wrap="square" lIns="0" tIns="0" rIns="0" bIns="0" rtlCol="0" anchor="t">
            <a:normAutofit/>
          </a:bodyPr>
          <a:lstStyle/>
          <a:p>
            <a:pPr algn="l" indent="0" marL="0">
              <a:lnSpc>
                <a:spcPts val="4320"/>
              </a:lnSpc>
              <a:buNone/>
            </a:pPr>
            <a:r>
              <a:rPr lang="en-US" sz="3600" b="1" dirty="0">
                <a:solidFill>
                  <a:srgbClr val="F2EFE8"/>
                </a:solidFill>
                <a:latin typeface="Arial" pitchFamily="34" charset="0"/>
                <a:ea typeface="Arial" pitchFamily="34" charset="-122"/>
                <a:cs typeface="Arial" pitchFamily="34" charset="-120"/>
              </a:rPr>
              <a:t>C</a:t>
            </a:r>
            <a:endParaRPr lang="en-US" sz="3600" dirty="0"/>
          </a:p>
        </p:txBody>
      </p:sp>
      <p:sp>
        <p:nvSpPr>
          <p:cNvPr id="13" name="Text 11"/>
          <p:cNvSpPr/>
          <p:nvPr/>
        </p:nvSpPr>
        <p:spPr>
          <a:xfrm>
            <a:off x="6350000" y="5141119"/>
            <a:ext cx="222377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A59C"/>
                </a:solidFill>
                <a:latin typeface="Arial" pitchFamily="34" charset="0"/>
                <a:ea typeface="Arial" pitchFamily="34" charset="-122"/>
                <a:cs typeface="Arial" pitchFamily="34" charset="-120"/>
              </a:rPr>
              <a:t>Tests + formal verification</a:t>
            </a:r>
            <a:endParaRPr lang="en-US" sz="1400" dirty="0"/>
          </a:p>
        </p:txBody>
      </p:sp>
      <p:sp>
        <p:nvSpPr>
          <p:cNvPr id="14" name="Shape 12"/>
          <p:cNvSpPr/>
          <p:nvPr/>
        </p:nvSpPr>
        <p:spPr>
          <a:xfrm>
            <a:off x="8813800" y="4338538"/>
            <a:ext cx="2565400" cy="1503462"/>
          </a:xfrm>
          <a:prstGeom prst="rect">
            <a:avLst/>
          </a:prstGeom>
          <a:solidFill>
            <a:srgbClr val="E8622C"/>
          </a:solidFill>
          <a:ln/>
        </p:spPr>
      </p:sp>
      <p:sp>
        <p:nvSpPr>
          <p:cNvPr id="15" name="Text 13"/>
          <p:cNvSpPr/>
          <p:nvPr/>
        </p:nvSpPr>
        <p:spPr>
          <a:xfrm>
            <a:off x="9017000" y="4541738"/>
            <a:ext cx="2223770" cy="573980"/>
          </a:xfrm>
          <a:prstGeom prst="rect">
            <a:avLst/>
          </a:prstGeom>
          <a:noFill/>
          <a:ln/>
        </p:spPr>
        <p:txBody>
          <a:bodyPr wrap="square" lIns="0" tIns="0" rIns="0" bIns="0" rtlCol="0" anchor="t">
            <a:normAutofit/>
          </a:bodyPr>
          <a:lstStyle/>
          <a:p>
            <a:pPr algn="l" indent="0" marL="0">
              <a:lnSpc>
                <a:spcPts val="4320"/>
              </a:lnSpc>
              <a:buNone/>
            </a:pPr>
            <a:r>
              <a:rPr lang="en-US" sz="3600" b="1" dirty="0">
                <a:solidFill>
                  <a:srgbClr val="141519"/>
                </a:solidFill>
                <a:latin typeface="Arial" pitchFamily="34" charset="0"/>
                <a:ea typeface="Arial" pitchFamily="34" charset="-122"/>
                <a:cs typeface="Arial" pitchFamily="34" charset="-120"/>
              </a:rPr>
              <a:t>D</a:t>
            </a:r>
            <a:endParaRPr lang="en-US" sz="3600" dirty="0"/>
          </a:p>
        </p:txBody>
      </p:sp>
      <p:sp>
        <p:nvSpPr>
          <p:cNvPr id="16" name="Text 14"/>
          <p:cNvSpPr/>
          <p:nvPr/>
        </p:nvSpPr>
        <p:spPr>
          <a:xfrm>
            <a:off x="9017000" y="5141119"/>
            <a:ext cx="2223770"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519"/>
                </a:solidFill>
                <a:latin typeface="Arial" pitchFamily="34" charset="0"/>
                <a:ea typeface="Arial" pitchFamily="34" charset="-122"/>
                <a:cs typeface="Arial" pitchFamily="34" charset="-120"/>
              </a:rPr>
              <a:t>Braking, steering… thrusters?</a:t>
            </a:r>
            <a:endParaRPr lang="en-US" sz="14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63"/>
                </a:solidFill>
                <a:latin typeface="Arial" pitchFamily="34" charset="0"/>
                <a:ea typeface="Arial" pitchFamily="34" charset="-122"/>
                <a:cs typeface="Arial" pitchFamily="34" charset="-120"/>
              </a:rPr>
              <a:t>Formal verification under ISO 26262, IEEE Xplore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519"/>
        </a:solidFill>
      </p:bgPr>
    </p:bg>
    <p:spTree>
      <p:nvGrpSpPr>
        <p:cNvPr id="1" name=""/>
        <p:cNvGrpSpPr/>
        <p:nvPr/>
      </p:nvGrpSpPr>
      <p:grpSpPr>
        <a:xfrm>
          <a:off x="0" y="0"/>
          <a:ext cx="0" cy="0"/>
          <a:chOff x="0" y="0"/>
          <a:chExt cx="0" cy="0"/>
        </a:xfrm>
      </p:grpSpPr>
      <p:sp>
        <p:nvSpPr>
          <p:cNvPr id="2" name="Text 0"/>
          <p:cNvSpPr/>
          <p:nvPr/>
        </p:nvSpPr>
        <p:spPr>
          <a:xfrm>
            <a:off x="812800" y="8128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spc="200" kern="0" dirty="0">
                <a:solidFill>
                  <a:srgbClr val="E8622C"/>
                </a:solidFill>
                <a:latin typeface="Arial" pitchFamily="34" charset="0"/>
                <a:ea typeface="Arial" pitchFamily="34" charset="-122"/>
                <a:cs typeface="Arial" pitchFamily="34" charset="-120"/>
              </a:rPr>
              <a:t>SPEAKER 3</a:t>
            </a:r>
            <a:endParaRPr lang="en-US" sz="1600" dirty="0"/>
          </a:p>
        </p:txBody>
      </p:sp>
      <p:sp>
        <p:nvSpPr>
          <p:cNvPr id="3" name="Text 1"/>
          <p:cNvSpPr/>
          <p:nvPr>
            <p:ph type="title"/>
          </p:nvPr>
        </p:nvSpPr>
        <p:spPr>
          <a:xfrm>
            <a:off x="812800" y="1249660"/>
            <a:ext cx="9810750" cy="1549400"/>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F2EFE8"/>
                </a:solidFill>
                <a:latin typeface="Arial" pitchFamily="34" charset="0"/>
                <a:ea typeface="Arial" pitchFamily="34" charset="-122"/>
                <a:cs typeface="Arial" pitchFamily="34" charset="-120"/>
              </a:rPr>
              <a:t>EVERY UPDATE IS A REGULATED EVENT.</a:t>
            </a:r>
            <a:endParaRPr lang="en-US" sz="6000" dirty="0"/>
          </a:p>
        </p:txBody>
      </p:sp>
      <p:sp>
        <p:nvSpPr>
          <p:cNvPr id="4" name="Shape 2"/>
          <p:cNvSpPr/>
          <p:nvPr/>
        </p:nvSpPr>
        <p:spPr>
          <a:xfrm>
            <a:off x="812800" y="4645720"/>
            <a:ext cx="5080000" cy="0"/>
          </a:xfrm>
          <a:prstGeom prst="line">
            <a:avLst/>
          </a:prstGeom>
          <a:noFill/>
          <a:ln w="25400">
            <a:solidFill>
              <a:srgbClr val="E8622C"/>
            </a:solidFill>
            <a:prstDash val="solid"/>
          </a:ln>
        </p:spPr>
      </p:sp>
      <p:sp>
        <p:nvSpPr>
          <p:cNvPr id="5" name="Text 3"/>
          <p:cNvSpPr/>
          <p:nvPr/>
        </p:nvSpPr>
        <p:spPr>
          <a:xfrm>
            <a:off x="812800" y="4861620"/>
            <a:ext cx="523240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EFE8"/>
                </a:solidFill>
                <a:latin typeface="Arial" pitchFamily="34" charset="0"/>
                <a:ea typeface="Arial" pitchFamily="34" charset="-122"/>
                <a:cs typeface="Arial" pitchFamily="34" charset="-120"/>
              </a:rPr>
              <a:t>Version control</a:t>
            </a:r>
            <a:endParaRPr lang="en-US" sz="2200" dirty="0"/>
          </a:p>
        </p:txBody>
      </p:sp>
      <p:sp>
        <p:nvSpPr>
          <p:cNvPr id="6" name="Text 4"/>
          <p:cNvSpPr/>
          <p:nvPr/>
        </p:nvSpPr>
        <p:spPr>
          <a:xfrm>
            <a:off x="812800" y="5273080"/>
            <a:ext cx="523240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DB9B0"/>
                </a:solidFill>
                <a:latin typeface="Arial" pitchFamily="34" charset="0"/>
                <a:ea typeface="Arial" pitchFamily="34" charset="-122"/>
                <a:cs typeface="Arial" pitchFamily="34" charset="-120"/>
              </a:rPr>
              <a:t>UN R156: know exactly which release is on every car, and what each one changes.</a:t>
            </a:r>
            <a:endParaRPr lang="en-US" sz="1600" dirty="0"/>
          </a:p>
        </p:txBody>
      </p:sp>
      <p:sp>
        <p:nvSpPr>
          <p:cNvPr id="7" name="Shape 5"/>
          <p:cNvSpPr/>
          <p:nvPr/>
        </p:nvSpPr>
        <p:spPr>
          <a:xfrm>
            <a:off x="6299200" y="4645720"/>
            <a:ext cx="5080000" cy="0"/>
          </a:xfrm>
          <a:prstGeom prst="line">
            <a:avLst/>
          </a:prstGeom>
          <a:noFill/>
          <a:ln w="25400">
            <a:solidFill>
              <a:srgbClr val="E8622C"/>
            </a:solidFill>
            <a:prstDash val="solid"/>
          </a:ln>
        </p:spPr>
      </p:sp>
      <p:sp>
        <p:nvSpPr>
          <p:cNvPr id="8" name="Text 6"/>
          <p:cNvSpPr/>
          <p:nvPr/>
        </p:nvSpPr>
        <p:spPr>
          <a:xfrm>
            <a:off x="6299200" y="4861620"/>
            <a:ext cx="523240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EFE8"/>
                </a:solidFill>
                <a:latin typeface="Arial" pitchFamily="34" charset="0"/>
                <a:ea typeface="Arial" pitchFamily="34" charset="-122"/>
                <a:cs typeface="Arial" pitchFamily="34" charset="-120"/>
              </a:rPr>
              <a:t>Signed releases + rollback</a:t>
            </a:r>
            <a:endParaRPr lang="en-US" sz="2200" dirty="0"/>
          </a:p>
        </p:txBody>
      </p:sp>
      <p:sp>
        <p:nvSpPr>
          <p:cNvPr id="9" name="Text 7"/>
          <p:cNvSpPr/>
          <p:nvPr/>
        </p:nvSpPr>
        <p:spPr>
          <a:xfrm>
            <a:off x="6299200" y="5273080"/>
            <a:ext cx="523240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DB9B0"/>
                </a:solidFill>
                <a:latin typeface="Arial" pitchFamily="34" charset="0"/>
                <a:ea typeface="Arial" pitchFamily="34" charset="-122"/>
                <a:cs typeface="Arial" pitchFamily="34" charset="-120"/>
              </a:rPr>
              <a:t>NHTSA: verify every update is legit. Plan for the one that fails.</a:t>
            </a:r>
            <a:endParaRPr lang="en-US" sz="16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63"/>
                </a:solidFill>
                <a:latin typeface="Arial" pitchFamily="34" charset="0"/>
                <a:ea typeface="Arial" pitchFamily="34" charset="-122"/>
                <a:cs typeface="Arial" pitchFamily="34" charset="-120"/>
              </a:rPr>
              <a:t>UN Regulation No. 156 · NHTSA cybersecurity best practices · NASA NPR 7150.2C</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622C"/>
        </a:solidFill>
      </p:bgPr>
    </p:bg>
    <p:spTree>
      <p:nvGrpSpPr>
        <p:cNvPr id="1" name=""/>
        <p:cNvGrpSpPr/>
        <p:nvPr/>
      </p:nvGrpSpPr>
      <p:grpSpPr>
        <a:xfrm>
          <a:off x="0" y="0"/>
          <a:ext cx="0" cy="0"/>
          <a:chOff x="0" y="0"/>
          <a:chExt cx="0" cy="0"/>
        </a:xfrm>
      </p:grpSpPr>
      <p:sp>
        <p:nvSpPr>
          <p:cNvPr id="2" name="Text 0"/>
          <p:cNvSpPr/>
          <p:nvPr/>
        </p:nvSpPr>
        <p:spPr>
          <a:xfrm>
            <a:off x="812800" y="2291259"/>
            <a:ext cx="10883392" cy="309860"/>
          </a:xfrm>
          <a:prstGeom prst="rect">
            <a:avLst/>
          </a:prstGeom>
          <a:noFill/>
          <a:ln/>
        </p:spPr>
        <p:txBody>
          <a:bodyPr wrap="square" lIns="0" tIns="0" rIns="0" bIns="0" rtlCol="0" anchor="t">
            <a:normAutofit/>
          </a:bodyPr>
          <a:lstStyle/>
          <a:p>
            <a:pPr algn="l" indent="0" marL="0">
              <a:lnSpc>
                <a:spcPts val="2240"/>
              </a:lnSpc>
              <a:buNone/>
            </a:pPr>
            <a:r>
              <a:rPr lang="en-US" sz="1600" spc="200" kern="0" dirty="0">
                <a:solidFill>
                  <a:srgbClr val="141519"/>
                </a:solidFill>
                <a:latin typeface="Arial" pitchFamily="34" charset="0"/>
                <a:ea typeface="Arial" pitchFamily="34" charset="-122"/>
                <a:cs typeface="Arial" pitchFamily="34" charset="-120"/>
              </a:rPr>
              <a:t>THAT CAR</a:t>
            </a:r>
            <a:endParaRPr lang="en-US" sz="1600" dirty="0"/>
          </a:p>
        </p:txBody>
      </p:sp>
      <p:sp>
        <p:nvSpPr>
          <p:cNvPr id="3" name="Text 1"/>
          <p:cNvSpPr/>
          <p:nvPr>
            <p:ph type="title"/>
          </p:nvPr>
        </p:nvSpPr>
        <p:spPr>
          <a:xfrm>
            <a:off x="812800" y="2829719"/>
            <a:ext cx="10464800" cy="2057400"/>
          </a:xfrm>
          <a:prstGeom prst="rect">
            <a:avLst/>
          </a:prstGeom>
          <a:noFill/>
          <a:ln/>
        </p:spPr>
        <p:txBody>
          <a:bodyPr wrap="square" lIns="0" tIns="0" rIns="0" bIns="0" rtlCol="0" anchor="t">
            <a:normAutofit/>
          </a:bodyPr>
          <a:lstStyle/>
          <a:p>
            <a:pPr algn="l" indent="0" marL="0">
              <a:lnSpc>
                <a:spcPts val="8000"/>
              </a:lnSpc>
              <a:buNone/>
            </a:pPr>
            <a:r>
              <a:rPr lang="en-US" sz="8000" b="1" i="0" dirty="0">
                <a:solidFill>
                  <a:srgbClr val="141519"/>
                </a:solidFill>
                <a:latin typeface="Arial" pitchFamily="34" charset="0"/>
                <a:ea typeface="Arial" pitchFamily="34" charset="-122"/>
                <a:cs typeface="Arial" pitchFamily="34" charset="-120"/>
              </a:rPr>
              <a:t>IS THE NEW TESLA ROADSTER.</a:t>
            </a:r>
            <a:endParaRPr lang="en-US" sz="8000" dirty="0"/>
          </a:p>
        </p:txBody>
      </p:sp>
      <p:sp>
        <p:nvSpPr>
          <p:cNvPr id="4" name="Text 2"/>
          <p:cNvSpPr/>
          <p:nvPr/>
        </p:nvSpPr>
        <p:spPr>
          <a:xfrm>
            <a:off x="812800" y="5115719"/>
            <a:ext cx="9156700" cy="75168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141519"/>
                </a:solidFill>
                <a:latin typeface="Arial" pitchFamily="34" charset="0"/>
                <a:ea typeface="Arial" pitchFamily="34" charset="-122"/>
                <a:cs typeface="Arial" pitchFamily="34" charset="-120"/>
              </a:rPr>
              <a:t>Getting it to fly was the easy part. The software is what stands between it and your driveway.</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EFE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41519"/>
                </a:solidFill>
                <a:latin typeface="Arial" pitchFamily="34" charset="0"/>
                <a:ea typeface="Arial" pitchFamily="34" charset="-122"/>
                <a:cs typeface="Arial" pitchFamily="34" charset="-120"/>
              </a:rPr>
              <a:t>SOURCES</a:t>
            </a:r>
            <a:endParaRPr lang="en-US" sz="3600" dirty="0"/>
          </a:p>
        </p:txBody>
      </p:sp>
      <p:sp>
        <p:nvSpPr>
          <p:cNvPr id="3" name="Text 1"/>
          <p:cNvSpPr/>
          <p:nvPr/>
        </p:nvSpPr>
        <p:spPr>
          <a:xfrm>
            <a:off x="910844" y="1643360"/>
            <a:ext cx="10777728" cy="2006600"/>
          </a:xfrm>
          <a:prstGeom prst="rect">
            <a:avLst/>
          </a:prstGeom>
          <a:noFill/>
          <a:ln/>
        </p:spPr>
        <p:txBody>
          <a:bodyPr wrap="square" lIns="0" tIns="0" rIns="0" bIns="0" rtlCol="0" anchor="t">
            <a:normAutofit/>
          </a:bodyPr>
          <a:lstStyle/>
          <a:p>
            <a:pPr algn="l" marL="155956" indent="-155956">
              <a:lnSpc>
                <a:spcPts val="1950"/>
              </a:lnSpc>
              <a:buSzPct val="100000"/>
              <a:buChar char="•"/>
            </a:pPr>
            <a:r>
              <a:rPr lang="en-US" sz="1300" dirty="0">
                <a:solidFill>
                  <a:srgbClr val="4A4740"/>
                </a:solidFill>
                <a:latin typeface="Arial" pitchFamily="34" charset="0"/>
                <a:ea typeface="Arial" pitchFamily="34" charset="-122"/>
                <a:cs typeface="Arial" pitchFamily="34" charset="-120"/>
              </a:rPr>
              <a:t>AP News. (2026, October 16). Tesla’s Roadster gets thrusters and a suction system, but it’s not for public roads yet.</a:t>
            </a:r>
            <a:endParaRPr lang="en-US" sz="1300" dirty="0"/>
          </a:p>
          <a:p>
            <a:pPr algn="l" marL="155956" indent="-155956">
              <a:lnSpc>
                <a:spcPts val="1950"/>
              </a:lnSpc>
              <a:buSzPct val="100000"/>
              <a:buChar char="•"/>
            </a:pPr>
            <a:r>
              <a:rPr lang="en-US" sz="1300" dirty="0">
                <a:solidFill>
                  <a:srgbClr val="4A4740"/>
                </a:solidFill>
                <a:latin typeface="Arial" pitchFamily="34" charset="0"/>
                <a:ea typeface="Arial" pitchFamily="34" charset="-122"/>
                <a:cs typeface="Arial" pitchFamily="34" charset="-120"/>
              </a:rPr>
              <a:t>Ågren, S. M., et al. (2019). The impact of requirements on systems development speed. Requirements Engineering.</a:t>
            </a:r>
            <a:endParaRPr lang="en-US" sz="1300" dirty="0"/>
          </a:p>
          <a:p>
            <a:pPr algn="l" marL="155956" indent="-155956">
              <a:lnSpc>
                <a:spcPts val="1950"/>
              </a:lnSpc>
              <a:buSzPct val="100000"/>
              <a:buChar char="•"/>
            </a:pPr>
            <a:r>
              <a:rPr lang="en-US" sz="1300" dirty="0">
                <a:solidFill>
                  <a:srgbClr val="4A4740"/>
                </a:solidFill>
                <a:latin typeface="Arial" pitchFamily="34" charset="0"/>
                <a:ea typeface="Arial" pitchFamily="34" charset="-122"/>
                <a:cs typeface="Arial" pitchFamily="34" charset="-120"/>
              </a:rPr>
              <a:t>Kalra, N., &amp; Paddock, S. M. (2016). Driving to safety. RAND Corporation.</a:t>
            </a:r>
            <a:endParaRPr lang="en-US" sz="1300" dirty="0"/>
          </a:p>
          <a:p>
            <a:pPr algn="l" marL="155956" indent="-155956">
              <a:lnSpc>
                <a:spcPts val="1950"/>
              </a:lnSpc>
              <a:buSzPct val="100000"/>
              <a:buChar char="•"/>
            </a:pPr>
            <a:r>
              <a:rPr lang="en-US" sz="1300" dirty="0">
                <a:solidFill>
                  <a:srgbClr val="4A4740"/>
                </a:solidFill>
                <a:latin typeface="Arial" pitchFamily="34" charset="0"/>
                <a:ea typeface="Arial" pitchFamily="34" charset="-122"/>
                <a:cs typeface="Arial" pitchFamily="34" charset="-120"/>
              </a:rPr>
              <a:t>Kusano, K. D., et al. (2022). Collision avoidance testing of the Waymo Automated Driving System. arXiv.</a:t>
            </a:r>
            <a:endParaRPr lang="en-US" sz="1300" dirty="0"/>
          </a:p>
          <a:p>
            <a:pPr algn="l" marL="155956" indent="-155956">
              <a:lnSpc>
                <a:spcPts val="1950"/>
              </a:lnSpc>
              <a:buSzPct val="100000"/>
              <a:buChar char="•"/>
            </a:pPr>
            <a:r>
              <a:rPr lang="en-US" sz="1300" dirty="0">
                <a:solidFill>
                  <a:srgbClr val="4A4740"/>
                </a:solidFill>
                <a:latin typeface="Arial" pitchFamily="34" charset="0"/>
                <a:ea typeface="Arial" pitchFamily="34" charset="-122"/>
                <a:cs typeface="Arial" pitchFamily="34" charset="-120"/>
              </a:rPr>
              <a:t>Formal verification of automotive design in compliance with ISO 26262 design verification guidelines. IEEE Xplore.</a:t>
            </a:r>
            <a:endParaRPr lang="en-US" sz="1300" dirty="0"/>
          </a:p>
          <a:p>
            <a:pPr algn="l" marL="155956" indent="-155956">
              <a:lnSpc>
                <a:spcPts val="1950"/>
              </a:lnSpc>
              <a:buSzPct val="100000"/>
              <a:buChar char="•"/>
            </a:pPr>
            <a:r>
              <a:rPr lang="en-US" sz="1300" dirty="0">
                <a:solidFill>
                  <a:srgbClr val="4A4740"/>
                </a:solidFill>
                <a:latin typeface="Arial" pitchFamily="34" charset="0"/>
                <a:ea typeface="Arial" pitchFamily="34" charset="-122"/>
                <a:cs typeface="Arial" pitchFamily="34" charset="-120"/>
              </a:rPr>
              <a:t>UN Regulation No. 156: Software update and software update management system. EUR-Lex.</a:t>
            </a:r>
            <a:endParaRPr lang="en-US" sz="1300" dirty="0"/>
          </a:p>
          <a:p>
            <a:pPr algn="l" marL="155956" indent="-155956">
              <a:lnSpc>
                <a:spcPts val="1950"/>
              </a:lnSpc>
              <a:buSzPct val="100000"/>
              <a:buChar char="•"/>
            </a:pPr>
            <a:r>
              <a:rPr lang="en-US" sz="1300" dirty="0">
                <a:solidFill>
                  <a:srgbClr val="4A4740"/>
                </a:solidFill>
                <a:latin typeface="Arial" pitchFamily="34" charset="0"/>
                <a:ea typeface="Arial" pitchFamily="34" charset="-122"/>
                <a:cs typeface="Arial" pitchFamily="34" charset="-120"/>
              </a:rPr>
              <a:t>National Highway Traffic Safety Administration. Cybersecurity best practices for the safety of modern vehicles.</a:t>
            </a:r>
            <a:endParaRPr lang="en-US" sz="1300" dirty="0"/>
          </a:p>
          <a:p>
            <a:pPr algn="l" marL="155956" indent="-155956">
              <a:lnSpc>
                <a:spcPts val="1950"/>
              </a:lnSpc>
              <a:buSzPct val="100000"/>
              <a:buChar char="•"/>
            </a:pPr>
            <a:r>
              <a:rPr lang="en-US" sz="1300" dirty="0">
                <a:solidFill>
                  <a:srgbClr val="4A4740"/>
                </a:solidFill>
                <a:latin typeface="Arial" pitchFamily="34" charset="0"/>
                <a:ea typeface="Arial" pitchFamily="34" charset="-122"/>
                <a:cs typeface="Arial" pitchFamily="34" charset="-120"/>
              </a:rPr>
              <a:t>NASA. NPR 7150.2C: NASA Software Engineering Requirements.</a:t>
            </a:r>
            <a:endParaRPr lang="en-US" sz="1300" dirty="0"/>
          </a:p>
        </p:txBody>
      </p:sp>
    </p:spTree>
  </p:cSld>
  <p:clrMapOvr>
    <a:masterClrMapping/>
  </p:clrMapOvr>
</p:sld>
</file>

<file path=ppt/theme/theme1.xml><?xml version="1.0" encoding="utf-8"?>
<a:theme xmlns:a="http://schemas.openxmlformats.org/drawingml/2006/main" name="Why the Flying Car Isn’t Street Legal">
  <a:themeElements>
    <a:clrScheme name="Why the Flying Car Isn’t Street Legal">
      <a:dk1>
        <a:srgbClr val="141519"/>
      </a:dk1>
      <a:lt1>
        <a:srgbClr val="F2EFE8"/>
      </a:lt1>
      <a:dk2>
        <a:srgbClr val="4C4C4D"/>
      </a:dk2>
      <a:lt2>
        <a:srgbClr val="DCD9D3"/>
      </a:lt2>
      <a:accent1>
        <a:srgbClr val="E8622C"/>
      </a:accent1>
      <a:accent2>
        <a:srgbClr val="B8461A"/>
      </a:accent2>
      <a:accent3>
        <a:srgbClr val="6E6A63"/>
      </a:accent3>
      <a:accent4>
        <a:srgbClr val="4A4740"/>
      </a:accent4>
      <a:accent5>
        <a:srgbClr val="A9A59C"/>
      </a:accent5>
      <a:accent6>
        <a:srgbClr val="BDB9B0"/>
      </a:accent6>
      <a:hlink>
        <a:srgbClr val="0563C1"/>
      </a:hlink>
      <a:folHlink>
        <a:srgbClr val="954F72"/>
      </a:folHlink>
    </a:clrScheme>
    <a:fontScheme name="Why the Flying Car Isn’t Street Leg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the Flying Car Isn’t Street Legal</dc:title>
  <dc:subject/>
  <dc:creator/>
  <cp:lastModifiedBy/>
  <cp:revision>1</cp:revision>
  <dcterms:created xsi:type="dcterms:W3CDTF">2026-10-23T17:18:18Z</dcterms:created>
  <dcterms:modified xsi:type="dcterms:W3CDTF">2026-10-23T17:18:18Z</dcterms:modified>
</cp:coreProperties>
</file>